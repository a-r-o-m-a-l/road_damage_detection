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text" id="{cde5238c-6620-2d03-8542-1ef0b9d33d98}">
          <p14:sldIdLst>
            <p14:sldId id="257"/>
          </p14:sldIdLst>
        </p14:section>
        <p14:section name="Solution" id="{c24c9ba4-3d51-386b-fd09-e667d880557d}">
          <p14:sldIdLst>
            <p14:sldId id="258"/>
            <p14:sldId id="259"/>
          </p14:sldIdLst>
        </p14:section>
        <p14:section name="Technology" id="{3e923e18-4682-8f63-b83b-ce5e9f446b99}">
          <p14:sldIdLst>
            <p14:sldId id="260"/>
            <p14:sldId id="261"/>
          </p14:sldIdLst>
        </p14:section>
        <p14:section name="Impact" id="{5a134949-f531-60d1-f209-ca76e92a6658}">
          <p14:sldIdLst>
            <p14:sldId id="262"/>
          </p14:sldIdLst>
        </p14:section>
        <p14:section name="Close" id="{2ccd03b9-1c49-4f43-97c9-a2737102a395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14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1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Road Damage Reporting and Monitoring System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141F2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Road Damage Reporting and Monitoring System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01168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Cloud-Based Road Damage Reporting and Monitoring System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886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citizen reports into faster, data-driven road repairs</a:t>
            </a:r>
            <a:endParaRPr lang="en-US" sz="2200" dirty="0"/>
          </a:p>
        </p:txBody>
      </p:sp>
      <p:sp>
        <p:nvSpPr>
          <p:cNvPr id="5" name="Lane dash 1"/>
          <p:cNvSpPr/>
          <p:nvPr/>
        </p:nvSpPr>
        <p:spPr>
          <a:xfrm>
            <a:off x="731520" y="5212080"/>
            <a:ext cx="502920" cy="82296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6" name="Lane dash 2"/>
          <p:cNvSpPr/>
          <p:nvPr/>
        </p:nvSpPr>
        <p:spPr>
          <a:xfrm>
            <a:off x="1581912" y="5212080"/>
            <a:ext cx="502920" cy="82296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Lane dash 3"/>
          <p:cNvSpPr/>
          <p:nvPr/>
        </p:nvSpPr>
        <p:spPr>
          <a:xfrm>
            <a:off x="2432304" y="5212080"/>
            <a:ext cx="502920" cy="82296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" name="Lane dash 4"/>
          <p:cNvSpPr/>
          <p:nvPr/>
        </p:nvSpPr>
        <p:spPr>
          <a:xfrm>
            <a:off x="3282696" y="5212080"/>
            <a:ext cx="502920" cy="82296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9" name="Lane dash 5"/>
          <p:cNvSpPr/>
          <p:nvPr/>
        </p:nvSpPr>
        <p:spPr>
          <a:xfrm>
            <a:off x="4133088" y="5212080"/>
            <a:ext cx="502920" cy="82296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Lane dash 6"/>
          <p:cNvSpPr/>
          <p:nvPr/>
        </p:nvSpPr>
        <p:spPr>
          <a:xfrm>
            <a:off x="4983480" y="5212080"/>
            <a:ext cx="502920" cy="82296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Lane dash 7"/>
          <p:cNvSpPr/>
          <p:nvPr/>
        </p:nvSpPr>
        <p:spPr>
          <a:xfrm>
            <a:off x="5833872" y="5212080"/>
            <a:ext cx="502920" cy="82296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2" name="Lane dash 8"/>
          <p:cNvSpPr/>
          <p:nvPr/>
        </p:nvSpPr>
        <p:spPr>
          <a:xfrm>
            <a:off x="6684264" y="5212080"/>
            <a:ext cx="502920" cy="82296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Lane dash 9"/>
          <p:cNvSpPr/>
          <p:nvPr/>
        </p:nvSpPr>
        <p:spPr>
          <a:xfrm>
            <a:off x="7534656" y="5212080"/>
            <a:ext cx="502920" cy="82296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4" name="Lane dash 10"/>
          <p:cNvSpPr/>
          <p:nvPr/>
        </p:nvSpPr>
        <p:spPr>
          <a:xfrm>
            <a:off x="8385048" y="5212080"/>
            <a:ext cx="502920" cy="82296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Lane dash 11"/>
          <p:cNvSpPr/>
          <p:nvPr/>
        </p:nvSpPr>
        <p:spPr>
          <a:xfrm>
            <a:off x="9235440" y="5212080"/>
            <a:ext cx="502920" cy="82296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Lane dash 12"/>
          <p:cNvSpPr/>
          <p:nvPr/>
        </p:nvSpPr>
        <p:spPr>
          <a:xfrm>
            <a:off x="10085832" y="5212080"/>
            <a:ext cx="502920" cy="82296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7" name="Lane dash 13"/>
          <p:cNvSpPr/>
          <p:nvPr/>
        </p:nvSpPr>
        <p:spPr>
          <a:xfrm>
            <a:off x="10936224" y="5212080"/>
            <a:ext cx="502920" cy="82296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5760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[Name] · [Institution / Course] · [Date]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need it</a:t>
            </a:r>
            <a:endParaRPr lang="en-US" sz="3600" dirty="0"/>
          </a:p>
        </p:txBody>
      </p:sp>
      <p:sp>
        <p:nvSpPr>
          <p:cNvPr id="3" name="Problem panel"/>
          <p:cNvSpPr/>
          <p:nvPr/>
        </p:nvSpPr>
        <p:spPr>
          <a:xfrm>
            <a:off x="548640" y="1371600"/>
            <a:ext cx="4206240" cy="4754880"/>
          </a:xfrm>
          <a:prstGeom prst="roundRect">
            <a:avLst>
              <a:gd name="adj" fmla="val 2174"/>
            </a:avLst>
          </a:prstGeom>
          <a:solidFill>
            <a:srgbClr val="141F2B"/>
          </a:solidFill>
          <a:ln w="9525">
            <a:solidFill>
              <a:srgbClr val="141F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reporting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9572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Phone, letter or walk-in complaints with no exact location or photo.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Scattered records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3872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department keeps its own data, so duplicates go unnoticed.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343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feedback loop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68172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rarely learn if a pothole was scheduled or repaired.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4864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damaged roads stay open longer, raising accident risk.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1371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GOALS FOR THE PLATFORM</a:t>
            </a:r>
            <a:endParaRPr lang="en-US" sz="1400" dirty="0"/>
          </a:p>
        </p:txBody>
      </p:sp>
      <p:sp>
        <p:nvSpPr>
          <p:cNvPr id="13" name="Goal card 1"/>
          <p:cNvSpPr/>
          <p:nvPr/>
        </p:nvSpPr>
        <p:spPr>
          <a:xfrm>
            <a:off x="5120640" y="1828800"/>
            <a:ext cx="31546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Badge 1"/>
          <p:cNvSpPr/>
          <p:nvPr/>
        </p:nvSpPr>
        <p:spPr>
          <a:xfrm>
            <a:off x="5349240" y="205740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492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349240" y="2651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reporting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349240" y="30175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damage with a photo and GPS in a few taps.</a:t>
            </a:r>
            <a:endParaRPr lang="en-US" sz="1400" dirty="0"/>
          </a:p>
        </p:txBody>
      </p:sp>
      <p:sp>
        <p:nvSpPr>
          <p:cNvPr id="18" name="Goal card 2"/>
          <p:cNvSpPr/>
          <p:nvPr/>
        </p:nvSpPr>
        <p:spPr>
          <a:xfrm>
            <a:off x="8458200" y="1828800"/>
            <a:ext cx="31546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Badge 2"/>
          <p:cNvSpPr/>
          <p:nvPr/>
        </p:nvSpPr>
        <p:spPr>
          <a:xfrm>
            <a:off x="8686800" y="205740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0" y="2651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cloud platform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0" y="30175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every report in a single scalable system.</a:t>
            </a:r>
            <a:endParaRPr lang="en-US" sz="1400" dirty="0"/>
          </a:p>
        </p:txBody>
      </p:sp>
      <p:sp>
        <p:nvSpPr>
          <p:cNvPr id="23" name="Goal card 3"/>
          <p:cNvSpPr/>
          <p:nvPr/>
        </p:nvSpPr>
        <p:spPr>
          <a:xfrm>
            <a:off x="5120640" y="4023360"/>
            <a:ext cx="31546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Badge 3"/>
          <p:cNvSpPr/>
          <p:nvPr/>
        </p:nvSpPr>
        <p:spPr>
          <a:xfrm>
            <a:off x="5349240" y="425196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34924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349240" y="4846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prioritisation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5349240" y="52120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repairs by severity, traffic and repeat reports.</a:t>
            </a:r>
            <a:endParaRPr lang="en-US" sz="1400" dirty="0"/>
          </a:p>
        </p:txBody>
      </p:sp>
      <p:sp>
        <p:nvSpPr>
          <p:cNvPr id="28" name="Goal card 4"/>
          <p:cNvSpPr/>
          <p:nvPr/>
        </p:nvSpPr>
        <p:spPr>
          <a:xfrm>
            <a:off x="8458200" y="4023360"/>
            <a:ext cx="31546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Badge 4"/>
          <p:cNvSpPr/>
          <p:nvPr/>
        </p:nvSpPr>
        <p:spPr>
          <a:xfrm>
            <a:off x="8686800" y="425196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68680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8686800" y="4846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tracking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8686800" y="52120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live status from submission to completed repair.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system works</a:t>
            </a:r>
            <a:endParaRPr lang="en-US" sz="3600" dirty="0"/>
          </a:p>
        </p:txBody>
      </p:sp>
      <p:sp>
        <p:nvSpPr>
          <p:cNvPr id="3" name="Step card 1"/>
          <p:cNvSpPr/>
          <p:nvPr/>
        </p:nvSpPr>
        <p:spPr>
          <a:xfrm>
            <a:off x="548640" y="1371600"/>
            <a:ext cx="2035454" cy="301752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Badge 1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rgbClr val="1F7A6B"/>
          </a:solidFill>
          <a:ln w="12700">
            <a:solidFill>
              <a:srgbClr val="1F7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16696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43200"/>
            <a:ext cx="166969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citizen uploads a photo; the app adds GPS and time.</a:t>
            </a:r>
            <a:endParaRPr lang="en-US" sz="1400" dirty="0"/>
          </a:p>
        </p:txBody>
      </p:sp>
      <p:sp>
        <p:nvSpPr>
          <p:cNvPr id="8" name="Step card 2"/>
          <p:cNvSpPr/>
          <p:nvPr/>
        </p:nvSpPr>
        <p:spPr>
          <a:xfrm>
            <a:off x="2812694" y="1371600"/>
            <a:ext cx="2035454" cy="301752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Badge 2"/>
          <p:cNvSpPr/>
          <p:nvPr/>
        </p:nvSpPr>
        <p:spPr>
          <a:xfrm>
            <a:off x="3041294" y="1600200"/>
            <a:ext cx="502920" cy="502920"/>
          </a:xfrm>
          <a:prstGeom prst="ellipse">
            <a:avLst/>
          </a:prstGeom>
          <a:solidFill>
            <a:srgbClr val="1F7A6B"/>
          </a:solidFill>
          <a:ln w="12700">
            <a:solidFill>
              <a:srgbClr val="1F7A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41294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041294" y="2286000"/>
            <a:ext cx="16696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041294" y="2743200"/>
            <a:ext cx="166969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cloud checks the image and merges duplicate reports.</a:t>
            </a:r>
            <a:endParaRPr lang="en-US" sz="1400" dirty="0"/>
          </a:p>
        </p:txBody>
      </p:sp>
      <p:sp>
        <p:nvSpPr>
          <p:cNvPr id="13" name="Step card 3"/>
          <p:cNvSpPr/>
          <p:nvPr/>
        </p:nvSpPr>
        <p:spPr>
          <a:xfrm>
            <a:off x="5076749" y="1371600"/>
            <a:ext cx="2035454" cy="301752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Badge 3"/>
          <p:cNvSpPr/>
          <p:nvPr/>
        </p:nvSpPr>
        <p:spPr>
          <a:xfrm>
            <a:off x="5305349" y="1600200"/>
            <a:ext cx="502920" cy="502920"/>
          </a:xfrm>
          <a:prstGeom prst="ellipse">
            <a:avLst/>
          </a:prstGeom>
          <a:solidFill>
            <a:srgbClr val="1F7A6B"/>
          </a:solidFill>
          <a:ln w="12700">
            <a:solidFill>
              <a:srgbClr val="1F7A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05349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305349" y="2286000"/>
            <a:ext cx="16696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Prioritise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305349" y="2743200"/>
            <a:ext cx="166969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and traffic level decide the repair queue.</a:t>
            </a:r>
            <a:endParaRPr lang="en-US" sz="1400" dirty="0"/>
          </a:p>
        </p:txBody>
      </p:sp>
      <p:sp>
        <p:nvSpPr>
          <p:cNvPr id="18" name="Step card 4"/>
          <p:cNvSpPr/>
          <p:nvPr/>
        </p:nvSpPr>
        <p:spPr>
          <a:xfrm>
            <a:off x="7340803" y="1371600"/>
            <a:ext cx="2035454" cy="301752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Badge 4"/>
          <p:cNvSpPr/>
          <p:nvPr/>
        </p:nvSpPr>
        <p:spPr>
          <a:xfrm>
            <a:off x="7569403" y="1600200"/>
            <a:ext cx="502920" cy="502920"/>
          </a:xfrm>
          <a:prstGeom prst="ellipse">
            <a:avLst/>
          </a:prstGeom>
          <a:solidFill>
            <a:srgbClr val="1F7A6B"/>
          </a:solidFill>
          <a:ln w="12700">
            <a:solidFill>
              <a:srgbClr val="1F7A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69403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569403" y="2286000"/>
            <a:ext cx="16696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569403" y="2743200"/>
            <a:ext cx="166969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officer dispatches a repair crew from the dashboard.</a:t>
            </a:r>
            <a:endParaRPr lang="en-US" sz="1400" dirty="0"/>
          </a:p>
        </p:txBody>
      </p:sp>
      <p:sp>
        <p:nvSpPr>
          <p:cNvPr id="23" name="Step card 5"/>
          <p:cNvSpPr/>
          <p:nvPr/>
        </p:nvSpPr>
        <p:spPr>
          <a:xfrm>
            <a:off x="9604858" y="1371600"/>
            <a:ext cx="2035454" cy="301752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Badge 5"/>
          <p:cNvSpPr/>
          <p:nvPr/>
        </p:nvSpPr>
        <p:spPr>
          <a:xfrm>
            <a:off x="9833458" y="1600200"/>
            <a:ext cx="502920" cy="502920"/>
          </a:xfrm>
          <a:prstGeom prst="ellipse">
            <a:avLst/>
          </a:prstGeom>
          <a:solidFill>
            <a:srgbClr val="1F7A6B"/>
          </a:solidFill>
          <a:ln w="12700">
            <a:solidFill>
              <a:srgbClr val="1F7A6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833458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833458" y="2286000"/>
            <a:ext cx="16696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9833458" y="2743200"/>
            <a:ext cx="166969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crew uploads an after-repair photo and the citizen is notified.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status lifecycle</a:t>
            </a:r>
            <a:endParaRPr lang="en-US" sz="1600" dirty="0"/>
          </a:p>
        </p:txBody>
      </p:sp>
      <p:sp>
        <p:nvSpPr>
          <p:cNvPr id="29" name="Status Submitted"/>
          <p:cNvSpPr/>
          <p:nvPr/>
        </p:nvSpPr>
        <p:spPr>
          <a:xfrm>
            <a:off x="548640" y="5166360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141F2B"/>
          </a:solidFill>
          <a:ln w="12700">
            <a:solidFill>
              <a:srgbClr val="141F2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51663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2286000" y="51663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32" name="Status Verified"/>
          <p:cNvSpPr/>
          <p:nvPr/>
        </p:nvSpPr>
        <p:spPr>
          <a:xfrm>
            <a:off x="2788920" y="5166360"/>
            <a:ext cx="1554480" cy="548640"/>
          </a:xfrm>
          <a:prstGeom prst="roundRect">
            <a:avLst>
              <a:gd name="adj" fmla="val 50000"/>
            </a:avLst>
          </a:prstGeom>
          <a:solidFill>
            <a:srgbClr val="141F2B"/>
          </a:solidFill>
          <a:ln w="12700">
            <a:solidFill>
              <a:srgbClr val="141F2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788920" y="5166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4343400" y="51663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35" name="Status Assigned"/>
          <p:cNvSpPr/>
          <p:nvPr/>
        </p:nvSpPr>
        <p:spPr>
          <a:xfrm>
            <a:off x="4846320" y="5166360"/>
            <a:ext cx="1554480" cy="548640"/>
          </a:xfrm>
          <a:prstGeom prst="roundRect">
            <a:avLst>
              <a:gd name="adj" fmla="val 50000"/>
            </a:avLst>
          </a:prstGeom>
          <a:solidFill>
            <a:srgbClr val="141F2B"/>
          </a:solidFill>
          <a:ln w="12700">
            <a:solidFill>
              <a:srgbClr val="141F2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846320" y="5166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0" y="51663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38" name="Status In progress"/>
          <p:cNvSpPr/>
          <p:nvPr/>
        </p:nvSpPr>
        <p:spPr>
          <a:xfrm>
            <a:off x="6903720" y="5166360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141F2B"/>
          </a:solidFill>
          <a:ln w="12700">
            <a:solidFill>
              <a:srgbClr val="141F2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903720" y="51663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8641080" y="51663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41" name="Status Resolved"/>
          <p:cNvSpPr/>
          <p:nvPr/>
        </p:nvSpPr>
        <p:spPr>
          <a:xfrm>
            <a:off x="9144000" y="5166360"/>
            <a:ext cx="1554480" cy="548640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144000" y="5166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app works</a:t>
            </a:r>
            <a:endParaRPr lang="en-US" sz="3600" dirty="0"/>
          </a:p>
        </p:txBody>
      </p:sp>
      <p:sp>
        <p:nvSpPr>
          <p:cNvPr id="3" name="Frame 1"/>
          <p:cNvSpPr/>
          <p:nvPr/>
        </p:nvSpPr>
        <p:spPr>
          <a:xfrm>
            <a:off x="493776" y="1225296"/>
            <a:ext cx="2121408" cy="4581144"/>
          </a:xfrm>
          <a:prstGeom prst="roundRect">
            <a:avLst>
              <a:gd name="adj" fmla="val 5172"/>
            </a:avLst>
          </a:prstGeom>
          <a:solidFill>
            <a:srgbClr val="1E2B3A"/>
          </a:solidFill>
          <a:ln w="12700">
            <a:solidFill>
              <a:srgbClr val="3A4A5C"/>
            </a:solidFill>
            <a:prstDash val="solid"/>
          </a:ln>
        </p:spPr>
      </p:sp>
      <p:pic>
        <p:nvPicPr>
          <p:cNvPr id="4" name="Screenshot 1" descr="CivicFix app screen: 1. Capture - AI detects the dam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2011680" cy="447141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58338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Capture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detects the damage</a:t>
            </a:r>
            <a:endParaRPr lang="en-US" sz="1600" dirty="0"/>
          </a:p>
        </p:txBody>
      </p:sp>
      <p:sp>
        <p:nvSpPr>
          <p:cNvPr id="6" name="Frame 2"/>
          <p:cNvSpPr/>
          <p:nvPr/>
        </p:nvSpPr>
        <p:spPr>
          <a:xfrm>
            <a:off x="2763774" y="1225296"/>
            <a:ext cx="2121408" cy="4581144"/>
          </a:xfrm>
          <a:prstGeom prst="roundRect">
            <a:avLst>
              <a:gd name="adj" fmla="val 5172"/>
            </a:avLst>
          </a:prstGeom>
          <a:solidFill>
            <a:srgbClr val="1E2B3A"/>
          </a:solidFill>
          <a:ln w="12700">
            <a:solidFill>
              <a:srgbClr val="3A4A5C"/>
            </a:solidFill>
            <a:prstDash val="solid"/>
          </a:ln>
        </p:spPr>
      </p:sp>
      <p:pic>
        <p:nvPicPr>
          <p:cNvPr id="7" name="Screenshot 2" descr="CivicFix app screen: 2. Inspect - Severity, depth, ac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638" y="1280160"/>
            <a:ext cx="2011680" cy="447141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727198" y="58338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Inspect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Severity, depth, action</a:t>
            </a:r>
            <a:endParaRPr lang="en-US" sz="1600" dirty="0"/>
          </a:p>
        </p:txBody>
      </p:sp>
      <p:sp>
        <p:nvSpPr>
          <p:cNvPr id="9" name="Frame 3"/>
          <p:cNvSpPr/>
          <p:nvPr/>
        </p:nvSpPr>
        <p:spPr>
          <a:xfrm>
            <a:off x="5033772" y="1225296"/>
            <a:ext cx="2121408" cy="4581144"/>
          </a:xfrm>
          <a:prstGeom prst="roundRect">
            <a:avLst>
              <a:gd name="adj" fmla="val 5172"/>
            </a:avLst>
          </a:prstGeom>
          <a:solidFill>
            <a:srgbClr val="1E2B3A"/>
          </a:solidFill>
          <a:ln w="12700">
            <a:solidFill>
              <a:srgbClr val="3A4A5C"/>
            </a:solidFill>
            <a:prstDash val="solid"/>
          </a:ln>
        </p:spPr>
      </p:sp>
      <p:pic>
        <p:nvPicPr>
          <p:cNvPr id="10" name="Screenshot 3" descr="CivicFix app screen: 3. Geotag - GPS pin and not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8636" y="1280160"/>
            <a:ext cx="2011680" cy="447141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997196" y="58338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Geotag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pin and notes</a:t>
            </a:r>
            <a:endParaRPr lang="en-US" sz="1600" dirty="0"/>
          </a:p>
        </p:txBody>
      </p:sp>
      <p:sp>
        <p:nvSpPr>
          <p:cNvPr id="12" name="Frame 4"/>
          <p:cNvSpPr/>
          <p:nvPr/>
        </p:nvSpPr>
        <p:spPr>
          <a:xfrm>
            <a:off x="7303770" y="1225296"/>
            <a:ext cx="2121408" cy="4581144"/>
          </a:xfrm>
          <a:prstGeom prst="roundRect">
            <a:avLst>
              <a:gd name="adj" fmla="val 5172"/>
            </a:avLst>
          </a:prstGeom>
          <a:solidFill>
            <a:srgbClr val="1E2B3A"/>
          </a:solidFill>
          <a:ln w="12700">
            <a:solidFill>
              <a:srgbClr val="3A4A5C"/>
            </a:solidFill>
            <a:prstDash val="solid"/>
          </a:ln>
        </p:spPr>
      </p:sp>
      <p:pic>
        <p:nvPicPr>
          <p:cNvPr id="13" name="Screenshot 4" descr="CivicFix app screen: 4. Triage - Admin metrics and ma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8634" y="1280160"/>
            <a:ext cx="2011680" cy="447141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267194" y="58338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Triage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metrics and map</a:t>
            </a:r>
            <a:endParaRPr lang="en-US" sz="1600" dirty="0"/>
          </a:p>
        </p:txBody>
      </p:sp>
      <p:sp>
        <p:nvSpPr>
          <p:cNvPr id="15" name="Frame 5"/>
          <p:cNvSpPr/>
          <p:nvPr/>
        </p:nvSpPr>
        <p:spPr>
          <a:xfrm>
            <a:off x="9573768" y="1225296"/>
            <a:ext cx="2121408" cy="4581144"/>
          </a:xfrm>
          <a:prstGeom prst="roundRect">
            <a:avLst>
              <a:gd name="adj" fmla="val 5172"/>
            </a:avLst>
          </a:prstGeom>
          <a:solidFill>
            <a:srgbClr val="1E2B3A"/>
          </a:solidFill>
          <a:ln w="12700">
            <a:solidFill>
              <a:srgbClr val="3A4A5C"/>
            </a:solidFill>
            <a:prstDash val="solid"/>
          </a:ln>
        </p:spPr>
      </p:sp>
      <p:pic>
        <p:nvPicPr>
          <p:cNvPr id="16" name="Screenshot 5" descr="CivicFix app screen: 5. Dispatch - Assign crews, track SL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8632" y="1280160"/>
            <a:ext cx="2011680" cy="447141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9537192" y="58338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Dispatch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crews, track SLA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cloud layers, one tech stack</a:t>
            </a:r>
            <a:endParaRPr lang="en-US" sz="3600" dirty="0"/>
          </a:p>
        </p:txBody>
      </p:sp>
      <p:sp>
        <p:nvSpPr>
          <p:cNvPr id="3" name="Layer 1"/>
          <p:cNvSpPr/>
          <p:nvPr/>
        </p:nvSpPr>
        <p:spPr>
          <a:xfrm>
            <a:off x="548640" y="1371600"/>
            <a:ext cx="2601468" cy="2011680"/>
          </a:xfrm>
          <a:prstGeom prst="roundRect">
            <a:avLst>
              <a:gd name="adj" fmla="val 4545"/>
            </a:avLst>
          </a:prstGeom>
          <a:solidFill>
            <a:srgbClr val="141F2B"/>
          </a:solidFill>
          <a:ln w="9525">
            <a:solidFill>
              <a:srgbClr val="141F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2235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22357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22357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app, web portal, authority dashboard, field-crew app</a:t>
            </a:r>
            <a:endParaRPr lang="en-US" sz="1400" dirty="0"/>
          </a:p>
        </p:txBody>
      </p:sp>
      <p:sp>
        <p:nvSpPr>
          <p:cNvPr id="7" name="Layer 2"/>
          <p:cNvSpPr/>
          <p:nvPr/>
        </p:nvSpPr>
        <p:spPr>
          <a:xfrm>
            <a:off x="3378708" y="1371600"/>
            <a:ext cx="2601468" cy="2011680"/>
          </a:xfrm>
          <a:prstGeom prst="roundRect">
            <a:avLst>
              <a:gd name="adj" fmla="val 4545"/>
            </a:avLst>
          </a:prstGeom>
          <a:solidFill>
            <a:srgbClr val="141F2B"/>
          </a:solidFill>
          <a:ln w="9525">
            <a:solidFill>
              <a:srgbClr val="141F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07308" y="1554480"/>
            <a:ext cx="2235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607308" y="1828800"/>
            <a:ext cx="22357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607308" y="2286000"/>
            <a:ext cx="22357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gateway, authentication, load balancer, push alerts</a:t>
            </a:r>
            <a:endParaRPr lang="en-US" sz="1400" dirty="0"/>
          </a:p>
        </p:txBody>
      </p:sp>
      <p:sp>
        <p:nvSpPr>
          <p:cNvPr id="11" name="Layer 3"/>
          <p:cNvSpPr/>
          <p:nvPr/>
        </p:nvSpPr>
        <p:spPr>
          <a:xfrm>
            <a:off x="6208776" y="1371600"/>
            <a:ext cx="2601468" cy="2011680"/>
          </a:xfrm>
          <a:prstGeom prst="roundRect">
            <a:avLst>
              <a:gd name="adj" fmla="val 4545"/>
            </a:avLst>
          </a:prstGeom>
          <a:solidFill>
            <a:srgbClr val="141F2B"/>
          </a:solidFill>
          <a:ln w="9525">
            <a:solidFill>
              <a:srgbClr val="141F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37376" y="1554480"/>
            <a:ext cx="2235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37376" y="1828800"/>
            <a:ext cx="22357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37376" y="2286000"/>
            <a:ext cx="22357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service, AI detection, duplicate and priority engine</a:t>
            </a:r>
            <a:endParaRPr lang="en-US" sz="1400" dirty="0"/>
          </a:p>
        </p:txBody>
      </p:sp>
      <p:sp>
        <p:nvSpPr>
          <p:cNvPr id="15" name="Layer 4"/>
          <p:cNvSpPr/>
          <p:nvPr/>
        </p:nvSpPr>
        <p:spPr>
          <a:xfrm>
            <a:off x="9038844" y="1371600"/>
            <a:ext cx="2601468" cy="2011680"/>
          </a:xfrm>
          <a:prstGeom prst="roundRect">
            <a:avLst>
              <a:gd name="adj" fmla="val 4545"/>
            </a:avLst>
          </a:prstGeom>
          <a:solidFill>
            <a:srgbClr val="141F2B"/>
          </a:solidFill>
          <a:ln w="9525">
            <a:solidFill>
              <a:srgbClr val="141F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67444" y="1554480"/>
            <a:ext cx="2235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267444" y="1828800"/>
            <a:ext cx="22357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267444" y="2286000"/>
            <a:ext cx="22357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storage, geospatial database, cache, logs and backups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TECH STACK</a:t>
            </a:r>
            <a:endParaRPr lang="en-US" sz="1400" dirty="0"/>
          </a:p>
        </p:txBody>
      </p:sp>
      <p:sp>
        <p:nvSpPr>
          <p:cNvPr id="20" name="Tech Mobile app"/>
          <p:cNvSpPr/>
          <p:nvPr/>
        </p:nvSpPr>
        <p:spPr>
          <a:xfrm>
            <a:off x="548640" y="4114800"/>
            <a:ext cx="3544824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77240" y="4206240"/>
            <a:ext cx="3087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526280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or React Native</a:t>
            </a:r>
            <a:endParaRPr lang="en-US" sz="1800" dirty="0"/>
          </a:p>
        </p:txBody>
      </p:sp>
      <p:sp>
        <p:nvSpPr>
          <p:cNvPr id="23" name="Tech Web dashboard"/>
          <p:cNvSpPr/>
          <p:nvPr/>
        </p:nvSpPr>
        <p:spPr>
          <a:xfrm>
            <a:off x="4322064" y="4114800"/>
            <a:ext cx="3544824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4550664" y="4206240"/>
            <a:ext cx="3087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550664" y="4526280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map library</a:t>
            </a:r>
            <a:endParaRPr lang="en-US" sz="1800" dirty="0"/>
          </a:p>
        </p:txBody>
      </p:sp>
      <p:sp>
        <p:nvSpPr>
          <p:cNvPr id="26" name="Tech Backend API"/>
          <p:cNvSpPr/>
          <p:nvPr/>
        </p:nvSpPr>
        <p:spPr>
          <a:xfrm>
            <a:off x="8095488" y="4114800"/>
            <a:ext cx="3544824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324088" y="4206240"/>
            <a:ext cx="3087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324088" y="4526280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or Node.js</a:t>
            </a:r>
            <a:endParaRPr lang="en-US" sz="1800" dirty="0"/>
          </a:p>
        </p:txBody>
      </p:sp>
      <p:sp>
        <p:nvSpPr>
          <p:cNvPr id="29" name="Tech AI model"/>
          <p:cNvSpPr/>
          <p:nvPr/>
        </p:nvSpPr>
        <p:spPr>
          <a:xfrm>
            <a:off x="548640" y="5166360"/>
            <a:ext cx="3544824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777240" y="5257800"/>
            <a:ext cx="3087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77240" y="5577840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/ YOLO detection</a:t>
            </a:r>
            <a:endParaRPr lang="en-US" sz="1800" dirty="0"/>
          </a:p>
        </p:txBody>
      </p:sp>
      <p:sp>
        <p:nvSpPr>
          <p:cNvPr id="32" name="Tech Database"/>
          <p:cNvSpPr/>
          <p:nvPr/>
        </p:nvSpPr>
        <p:spPr>
          <a:xfrm>
            <a:off x="4322064" y="5166360"/>
            <a:ext cx="3544824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4550664" y="5257800"/>
            <a:ext cx="3087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550664" y="5577840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PostGIS</a:t>
            </a:r>
            <a:endParaRPr lang="en-US" sz="1800" dirty="0"/>
          </a:p>
        </p:txBody>
      </p:sp>
      <p:sp>
        <p:nvSpPr>
          <p:cNvPr id="35" name="Tech Cloud services"/>
          <p:cNvSpPr/>
          <p:nvPr/>
        </p:nvSpPr>
        <p:spPr>
          <a:xfrm>
            <a:off x="8095488" y="5166360"/>
            <a:ext cx="3544824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8324088" y="5257800"/>
            <a:ext cx="3087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services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8324088" y="5577840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S3, Lambda, Cognito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platform offers</a:t>
            </a:r>
            <a:endParaRPr lang="en-US" sz="3600" dirty="0"/>
          </a:p>
        </p:txBody>
      </p:sp>
      <p:sp>
        <p:nvSpPr>
          <p:cNvPr id="3" name="Feature 1"/>
          <p:cNvSpPr/>
          <p:nvPr/>
        </p:nvSpPr>
        <p:spPr>
          <a:xfrm>
            <a:off x="548640" y="1371600"/>
            <a:ext cx="3544824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Badge 1"/>
          <p:cNvSpPr/>
          <p:nvPr/>
        </p:nvSpPr>
        <p:spPr>
          <a:xfrm>
            <a:off x="777240" y="1600200"/>
            <a:ext cx="457200" cy="457200"/>
          </a:xfrm>
          <a:prstGeom prst="ellipse">
            <a:avLst/>
          </a:prstGeom>
          <a:solidFill>
            <a:srgbClr val="1F7A6B"/>
          </a:solidFill>
          <a:ln w="12700">
            <a:solidFill>
              <a:srgbClr val="1F7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27632"/>
            <a:ext cx="2447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and GPS reports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40280"/>
            <a:ext cx="3087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and time captured automatically.</a:t>
            </a:r>
            <a:endParaRPr lang="en-US" sz="1400" dirty="0"/>
          </a:p>
        </p:txBody>
      </p:sp>
      <p:sp>
        <p:nvSpPr>
          <p:cNvPr id="8" name="Feature 2"/>
          <p:cNvSpPr/>
          <p:nvPr/>
        </p:nvSpPr>
        <p:spPr>
          <a:xfrm>
            <a:off x="4322064" y="1371600"/>
            <a:ext cx="3544824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Badge 2"/>
          <p:cNvSpPr/>
          <p:nvPr/>
        </p:nvSpPr>
        <p:spPr>
          <a:xfrm>
            <a:off x="4550664" y="1600200"/>
            <a:ext cx="457200" cy="457200"/>
          </a:xfrm>
          <a:prstGeom prst="ellipse">
            <a:avLst/>
          </a:prstGeom>
          <a:solidFill>
            <a:srgbClr val="1F7A6B"/>
          </a:solidFill>
          <a:ln w="12700">
            <a:solidFill>
              <a:srgbClr val="1F7A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50664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190744" y="1627632"/>
            <a:ext cx="2447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damage detection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50664" y="2240280"/>
            <a:ext cx="3087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Spots potholes and cracks and rates severity.</a:t>
            </a:r>
            <a:endParaRPr lang="en-US" sz="1400" dirty="0"/>
          </a:p>
        </p:txBody>
      </p:sp>
      <p:sp>
        <p:nvSpPr>
          <p:cNvPr id="13" name="Feature 3"/>
          <p:cNvSpPr/>
          <p:nvPr/>
        </p:nvSpPr>
        <p:spPr>
          <a:xfrm>
            <a:off x="8095488" y="1371600"/>
            <a:ext cx="3544824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Badge 3"/>
          <p:cNvSpPr/>
          <p:nvPr/>
        </p:nvSpPr>
        <p:spPr>
          <a:xfrm>
            <a:off x="8324088" y="1600200"/>
            <a:ext cx="457200" cy="457200"/>
          </a:xfrm>
          <a:prstGeom prst="ellipse">
            <a:avLst/>
          </a:prstGeom>
          <a:solidFill>
            <a:srgbClr val="1F7A6B"/>
          </a:solidFill>
          <a:ln w="12700">
            <a:solidFill>
              <a:srgbClr val="1F7A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4088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64168" y="1627632"/>
            <a:ext cx="2447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merging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24088" y="2240280"/>
            <a:ext cx="3087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reports of one defect become one case.</a:t>
            </a:r>
            <a:endParaRPr lang="en-US" sz="1400" dirty="0"/>
          </a:p>
        </p:txBody>
      </p:sp>
      <p:sp>
        <p:nvSpPr>
          <p:cNvPr id="18" name="Feature 4"/>
          <p:cNvSpPr/>
          <p:nvPr/>
        </p:nvSpPr>
        <p:spPr>
          <a:xfrm>
            <a:off x="548640" y="3200400"/>
            <a:ext cx="3544824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Badge 4"/>
          <p:cNvSpPr/>
          <p:nvPr/>
        </p:nvSpPr>
        <p:spPr>
          <a:xfrm>
            <a:off x="777240" y="3429000"/>
            <a:ext cx="457200" cy="457200"/>
          </a:xfrm>
          <a:prstGeom prst="ellipse">
            <a:avLst/>
          </a:prstGeom>
          <a:solidFill>
            <a:srgbClr val="1F7A6B"/>
          </a:solidFill>
          <a:ln w="12700">
            <a:solidFill>
              <a:srgbClr val="1F7A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3456432"/>
            <a:ext cx="2447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scoring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069080"/>
            <a:ext cx="3087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Severity, road type and traffic set the priority.</a:t>
            </a:r>
            <a:endParaRPr lang="en-US" sz="1400" dirty="0"/>
          </a:p>
        </p:txBody>
      </p:sp>
      <p:sp>
        <p:nvSpPr>
          <p:cNvPr id="23" name="Feature 5"/>
          <p:cNvSpPr/>
          <p:nvPr/>
        </p:nvSpPr>
        <p:spPr>
          <a:xfrm>
            <a:off x="4322064" y="3200400"/>
            <a:ext cx="3544824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Badge 5"/>
          <p:cNvSpPr/>
          <p:nvPr/>
        </p:nvSpPr>
        <p:spPr>
          <a:xfrm>
            <a:off x="4550664" y="3429000"/>
            <a:ext cx="457200" cy="457200"/>
          </a:xfrm>
          <a:prstGeom prst="ellipse">
            <a:avLst/>
          </a:prstGeom>
          <a:solidFill>
            <a:srgbClr val="1F7A6B"/>
          </a:solidFill>
          <a:ln w="12700">
            <a:solidFill>
              <a:srgbClr val="1F7A6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50664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190744" y="3456432"/>
            <a:ext cx="2447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status alerts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4550664" y="4069080"/>
            <a:ext cx="3087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are notified at every repair stage.</a:t>
            </a:r>
            <a:endParaRPr lang="en-US" sz="1400" dirty="0"/>
          </a:p>
        </p:txBody>
      </p:sp>
      <p:sp>
        <p:nvSpPr>
          <p:cNvPr id="28" name="Feature 6"/>
          <p:cNvSpPr/>
          <p:nvPr/>
        </p:nvSpPr>
        <p:spPr>
          <a:xfrm>
            <a:off x="8095488" y="3200400"/>
            <a:ext cx="3544824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Badge 6"/>
          <p:cNvSpPr/>
          <p:nvPr/>
        </p:nvSpPr>
        <p:spPr>
          <a:xfrm>
            <a:off x="8324088" y="3429000"/>
            <a:ext cx="457200" cy="457200"/>
          </a:xfrm>
          <a:prstGeom prst="ellipse">
            <a:avLst/>
          </a:prstGeom>
          <a:solidFill>
            <a:srgbClr val="1F7A6B"/>
          </a:solidFill>
          <a:ln w="12700">
            <a:solidFill>
              <a:srgbClr val="1F7A6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324088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964168" y="3456432"/>
            <a:ext cx="2447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dashboard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8324088" y="4069080"/>
            <a:ext cx="3087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and charts reveal hotspots and repair times.</a:t>
            </a:r>
            <a:endParaRPr lang="en-US" sz="1400" dirty="0"/>
          </a:p>
        </p:txBody>
      </p:sp>
      <p:sp>
        <p:nvSpPr>
          <p:cNvPr id="33" name="Dashboard band"/>
          <p:cNvSpPr/>
          <p:nvPr/>
        </p:nvSpPr>
        <p:spPr>
          <a:xfrm>
            <a:off x="548640" y="512064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141F2B"/>
          </a:solidFill>
          <a:ln w="9525">
            <a:solidFill>
              <a:srgbClr val="141F2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2960" y="52120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dashboard for every road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0" y="521208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severity map  ·  Filters by area, type, status and date  ·  Crew assignment and progress tracking  ·  Trend charts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Benefits, risks and mitigations</a:t>
            </a:r>
            <a:endParaRPr lang="en-US" sz="3600" dirty="0"/>
          </a:p>
        </p:txBody>
      </p:sp>
      <p:sp>
        <p:nvSpPr>
          <p:cNvPr id="3" name="Benefit Citizens"/>
          <p:cNvSpPr/>
          <p:nvPr/>
        </p:nvSpPr>
        <p:spPr>
          <a:xfrm>
            <a:off x="548640" y="1371600"/>
            <a:ext cx="4297680" cy="1417320"/>
          </a:xfrm>
          <a:prstGeom prst="roundRect">
            <a:avLst>
              <a:gd name="adj" fmla="val 6452"/>
            </a:avLst>
          </a:prstGeom>
          <a:solidFill>
            <a:srgbClr val="141F2B"/>
          </a:solidFill>
          <a:ln w="9525">
            <a:solidFill>
              <a:srgbClr val="141F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in a few taps, follow status live, get notified when fixed.</a:t>
            </a:r>
            <a:endParaRPr lang="en-US" sz="1400" dirty="0"/>
          </a:p>
        </p:txBody>
      </p:sp>
      <p:sp>
        <p:nvSpPr>
          <p:cNvPr id="6" name="Benefit Authorities"/>
          <p:cNvSpPr/>
          <p:nvPr/>
        </p:nvSpPr>
        <p:spPr>
          <a:xfrm>
            <a:off x="548640" y="2971800"/>
            <a:ext cx="4297680" cy="1417320"/>
          </a:xfrm>
          <a:prstGeom prst="roundRect">
            <a:avLst>
              <a:gd name="adj" fmla="val 6452"/>
            </a:avLst>
          </a:prstGeom>
          <a:solidFill>
            <a:srgbClr val="141F2B"/>
          </a:solidFill>
          <a:ln w="9525">
            <a:solidFill>
              <a:srgbClr val="141F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3108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Authorities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4747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 view of damage, data-based priorities, fewer duplicate inspections.</a:t>
            </a:r>
            <a:endParaRPr lang="en-US" sz="1400" dirty="0"/>
          </a:p>
        </p:txBody>
      </p:sp>
      <p:sp>
        <p:nvSpPr>
          <p:cNvPr id="9" name="Benefit Society"/>
          <p:cNvSpPr/>
          <p:nvPr/>
        </p:nvSpPr>
        <p:spPr>
          <a:xfrm>
            <a:off x="548640" y="4572000"/>
            <a:ext cx="4297680" cy="1417320"/>
          </a:xfrm>
          <a:prstGeom prst="roundRect">
            <a:avLst>
              <a:gd name="adj" fmla="val 6452"/>
            </a:avLst>
          </a:prstGeom>
          <a:solidFill>
            <a:srgbClr val="141F2B"/>
          </a:solidFill>
          <a:ln w="9525">
            <a:solidFill>
              <a:srgbClr val="141F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4709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Society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0749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roads, lower vehicle repair costs, more trust through open tracking.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371600"/>
          <a:ext cx="6519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776472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Challenge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6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 or blurry reports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validation, GPS and time checks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roadside internet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capture, upload later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E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 of location 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Encryption and role-based access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as reports grow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Serverless auto-scaling, storage rules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E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citizen participation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app and status alerts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system can grow</a:t>
            </a:r>
            <a:endParaRPr lang="en-US" sz="3600" dirty="0"/>
          </a:p>
        </p:txBody>
      </p:sp>
      <p:sp>
        <p:nvSpPr>
          <p:cNvPr id="3" name="Badge 1"/>
          <p:cNvSpPr/>
          <p:nvPr/>
        </p:nvSpPr>
        <p:spPr>
          <a:xfrm>
            <a:off x="548640" y="146304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1732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from vehicle dashcams and sensors</a:t>
            </a:r>
            <a:endParaRPr lang="en-US" sz="1800" dirty="0"/>
          </a:p>
        </p:txBody>
      </p:sp>
      <p:sp>
        <p:nvSpPr>
          <p:cNvPr id="6" name="Badge 2"/>
          <p:cNvSpPr/>
          <p:nvPr/>
        </p:nvSpPr>
        <p:spPr>
          <a:xfrm>
            <a:off x="548640" y="237744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33172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and satellite imagery for road surveys</a:t>
            </a:r>
            <a:endParaRPr lang="en-US" sz="1800" dirty="0"/>
          </a:p>
        </p:txBody>
      </p:sp>
      <p:sp>
        <p:nvSpPr>
          <p:cNvPr id="9" name="Badge 3"/>
          <p:cNvSpPr/>
          <p:nvPr/>
        </p:nvSpPr>
        <p:spPr>
          <a:xfrm>
            <a:off x="548640" y="329184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24612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before roads fail</a:t>
            </a:r>
            <a:endParaRPr lang="en-US" sz="1800" dirty="0"/>
          </a:p>
        </p:txBody>
      </p:sp>
      <p:sp>
        <p:nvSpPr>
          <p:cNvPr id="12" name="Badge 4"/>
          <p:cNvSpPr/>
          <p:nvPr/>
        </p:nvSpPr>
        <p:spPr>
          <a:xfrm>
            <a:off x="548640" y="420624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16052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Smart-city and municipal integration</a:t>
            </a:r>
            <a:endParaRPr lang="en-US" sz="1800" dirty="0"/>
          </a:p>
        </p:txBody>
      </p:sp>
      <p:sp>
        <p:nvSpPr>
          <p:cNvPr id="15" name="Badge 5"/>
          <p:cNvSpPr/>
          <p:nvPr/>
        </p:nvSpPr>
        <p:spPr>
          <a:xfrm>
            <a:off x="548640" y="512064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507492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and voice-based reporting</a:t>
            </a:r>
            <a:endParaRPr lang="en-US" sz="1800" dirty="0"/>
          </a:p>
        </p:txBody>
      </p:sp>
      <p:sp>
        <p:nvSpPr>
          <p:cNvPr id="18" name="Thank you panel"/>
          <p:cNvSpPr/>
          <p:nvPr/>
        </p:nvSpPr>
        <p:spPr>
          <a:xfrm>
            <a:off x="7223760" y="1371600"/>
            <a:ext cx="4416552" cy="4663440"/>
          </a:xfrm>
          <a:prstGeom prst="roundRect">
            <a:avLst>
              <a:gd name="adj" fmla="val 2070"/>
            </a:avLst>
          </a:prstGeom>
          <a:solidFill>
            <a:srgbClr val="F2A900"/>
          </a:solidFill>
          <a:ln w="9525">
            <a:solidFill>
              <a:srgbClr val="F2A9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0" y="21031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4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32004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4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cloud platform connecting citizens, crews and planners to fix roads faster.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0" y="4480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5212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 · [Email]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adFix">
  <a:themeElements>
    <a:clrScheme name="RoadFix">
      <a:dk1>
        <a:srgbClr val="141F2B"/>
      </a:dk1>
      <a:lt1>
        <a:srgbClr val="FFFFFF"/>
      </a:lt1>
      <a:dk2>
        <a:srgbClr val="1E2B3A"/>
      </a:dk2>
      <a:lt2>
        <a:srgbClr val="F1F3F5"/>
      </a:lt2>
      <a:accent1>
        <a:srgbClr val="F2A900"/>
      </a:accent1>
      <a:accent2>
        <a:srgbClr val="1F7A6B"/>
      </a:accent2>
      <a:accent3>
        <a:srgbClr val="B3261E"/>
      </a:accent3>
      <a:accent4>
        <a:srgbClr val="5B6B7B"/>
      </a:accent4>
      <a:accent5>
        <a:srgbClr val="2563EB"/>
      </a:accent5>
      <a:accent6>
        <a:srgbClr val="8A94A0"/>
      </a:accent6>
      <a:hlink>
        <a:srgbClr val="2563EB"/>
      </a:hlink>
      <a:folHlink>
        <a:srgbClr val="5B6B7B"/>
      </a:folHlink>
    </a:clrScheme>
    <a:fontScheme name="RoadFix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Cloud-Based Road Damage Reporting and Monitoring System</dc:title>
  <dc:subject>PptxGenJS Presentation</dc:subject>
  <dc:creator>PptxGenJS</dc:creator>
  <cp:lastModifiedBy>PptxGenJS</cp:lastModifiedBy>
  <cp:revision>1</cp:revision>
  <dcterms:created xsi:type="dcterms:W3CDTF">2026-10-09T08:36:02Z</dcterms:created>
  <dcterms:modified xsi:type="dcterms:W3CDTF">2026-10-09T08:36:02Z</dcterms:modified>
</cp:coreProperties>
</file>